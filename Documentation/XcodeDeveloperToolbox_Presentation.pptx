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7315200" cy="7315200"/>
          </a:xfrm>
          <a:prstGeom prst="ellipse">
            <a:avLst/>
          </a:prstGeom>
          <a:solidFill>
            <a:srgbClr val="04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36576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36576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2011680" cy="292608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F Pro Text"/>
              </a:rPr>
              <a:t>  SWIFT CLI  ·  MACOS 13+  ·  KEIN DEPENDENCY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5F5F7"/>
                </a:solidFill>
                <a:latin typeface="SF Pro Display"/>
              </a:rPr>
              <a:t>Xcode Developer</a:t>
            </a:r>
          </a:p>
          <a:p>
            <a:pPr algn="l"/>
            <a:r>
              <a:rPr sz="7200" b="1" i="0">
                <a:solidFill>
                  <a:srgbClr val="0A84FF"/>
                </a:solidFill>
                <a:latin typeface="SF Pro Display"/>
              </a:rPr>
              <a:t>Toolbox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A1A1A6"/>
                </a:solidFill>
                <a:latin typeface="SF Pro Text"/>
              </a:rPr>
              <a:t>Alle Xcode-Workflows. Ein Tool.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029200"/>
            <a:ext cx="2560320" cy="11887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A84FF"/>
                </a:solidFill>
                <a:latin typeface="SF Pro Display"/>
              </a:rPr>
              <a:t>100+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F Pro Text"/>
              </a:rPr>
              <a:t>Funktionen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5029200"/>
            <a:ext cx="2560320" cy="11887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513892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A84FF"/>
                </a:solidFill>
                <a:latin typeface="SF Pro Display"/>
              </a:rPr>
              <a:t>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5623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F Pro Text"/>
              </a:rPr>
              <a:t>Themenbereiche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5029200"/>
            <a:ext cx="2560320" cy="11887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513892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A84FF"/>
                </a:solidFill>
                <a:latin typeface="SF Pro Display"/>
              </a:rPr>
              <a:t>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623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F Pro Text"/>
              </a:rPr>
              <a:t>Analysen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5029200"/>
            <a:ext cx="2560320" cy="11887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513892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A84FF"/>
                </a:solidFill>
                <a:latin typeface="SF Pro Display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5623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F Pro Text"/>
              </a:rPr>
              <a:t>Dependencies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21424"/>
            <a:ext cx="6094476" cy="36576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4476" y="6821424"/>
            <a:ext cx="6094476" cy="36576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36576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36576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84FF"/>
                </a:solidFill>
                <a:latin typeface="SF Pro Display"/>
              </a:rPr>
              <a:t>DAS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5F5F7"/>
                </a:solidFill>
                <a:latin typeface="SF Pro Display"/>
              </a:rPr>
              <a:t>Xcode-Entwicklung kostet zu viel Zeit.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303520" cy="20116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45720" cy="2011680"/>
          </a:xfrm>
          <a:prstGeom prst="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5F5F7"/>
                </a:solidFill>
                <a:latin typeface="SF Pro Text"/>
              </a:rPr>
              <a:t>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2880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F5F7"/>
                </a:solidFill>
                <a:latin typeface="SF Pro Display"/>
              </a:rPr>
              <a:t>Zu viele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86000"/>
            <a:ext cx="4206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6"/>
                </a:solidFill>
                <a:latin typeface="SF Pro Text"/>
              </a:rPr>
              <a:t>Terminal, Xcode, Instruments,
Organizer, Finder — ständige
Kontextwechsel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91640"/>
            <a:ext cx="5303520" cy="20116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91640"/>
            <a:ext cx="45720" cy="2011680"/>
          </a:xfrm>
          <a:prstGeom prst="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874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5F5F7"/>
                </a:solidFill>
                <a:latin typeface="SF Pro Text"/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82880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F5F7"/>
                </a:solidFill>
                <a:latin typeface="SF Pro Display"/>
              </a:rPr>
              <a:t>Wiederkehrende
Kommandos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86000"/>
            <a:ext cx="4206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6"/>
                </a:solidFill>
                <a:latin typeface="SF Pro Text"/>
              </a:rPr>
              <a:t>Dieselben Befehle täglich
aufs Neue suchen, kopieren
und eintippen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77639"/>
            <a:ext cx="5303520" cy="20116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977639"/>
            <a:ext cx="45720" cy="2011680"/>
          </a:xfrm>
          <a:prstGeom prst="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60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5F5F7"/>
                </a:solidFill>
                <a:latin typeface="SF Pro Text"/>
              </a:rPr>
              <a:t>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114799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F5F7"/>
                </a:solidFill>
                <a:latin typeface="SF Pro Display"/>
              </a:rPr>
              <a:t>Fehleranfällige
Abläufe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571999"/>
            <a:ext cx="4206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6"/>
                </a:solidFill>
                <a:latin typeface="SF Pro Text"/>
              </a:rPr>
              <a:t>Falsche Flags, vergessene
Schritte, falsche Reihenfolge
unter Zeitdruck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977639"/>
            <a:ext cx="5303520" cy="20116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977639"/>
            <a:ext cx="45720" cy="2011680"/>
          </a:xfrm>
          <a:prstGeom prst="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160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5F5F7"/>
                </a:solidFill>
                <a:latin typeface="SF Pro Text"/>
              </a:rPr>
              <a:t>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114799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F5F7"/>
                </a:solidFill>
                <a:latin typeface="SF Pro Display"/>
              </a:rPr>
              <a:t>Langsame Releases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571999"/>
            <a:ext cx="4206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6"/>
                </a:solidFill>
                <a:latin typeface="SF Pro Text"/>
              </a:rPr>
              <a:t>Export, Upload, Notarisierung,
Validierung — viele Schritte,
viele Fehlerquellen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821424"/>
            <a:ext cx="6094476" cy="36576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4476" y="6821424"/>
            <a:ext cx="6094476" cy="36576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36576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36576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F0A"/>
                </a:solidFill>
                <a:latin typeface="SF Pro Display"/>
              </a:rPr>
              <a:t>DIE REALITÄT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5F7"/>
                </a:solidFill>
                <a:latin typeface="SF Pro Display"/>
              </a:rPr>
              <a:t>Ein typischer Entwicklertag ohne Toolbox.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76272"/>
            <a:ext cx="10515600" cy="36576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2029968"/>
            <a:ext cx="329184" cy="329184"/>
          </a:xfrm>
          <a:prstGeom prst="ellipse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6E73"/>
                </a:solidFill>
                <a:latin typeface="SF Pro Display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Text"/>
              </a:rPr>
              <a:t>Cache leeren</a:t>
            </a:r>
          </a:p>
        </p:txBody>
      </p:sp>
      <p:sp>
        <p:nvSpPr>
          <p:cNvPr id="10" name="Oval 9"/>
          <p:cNvSpPr/>
          <p:nvPr/>
        </p:nvSpPr>
        <p:spPr>
          <a:xfrm>
            <a:off x="2267712" y="2029968"/>
            <a:ext cx="329184" cy="329184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2468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84FF"/>
                </a:solidFill>
                <a:latin typeface="SF Pro Display"/>
              </a:rPr>
              <a:t>Xcode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788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Text"/>
              </a:rPr>
              <a:t>Build starten</a:t>
            </a:r>
          </a:p>
        </p:txBody>
      </p:sp>
      <p:sp>
        <p:nvSpPr>
          <p:cNvPr id="13" name="Oval 12"/>
          <p:cNvSpPr/>
          <p:nvPr/>
        </p:nvSpPr>
        <p:spPr>
          <a:xfrm>
            <a:off x="3822191" y="2029968"/>
            <a:ext cx="329184" cy="329184"/>
          </a:xfrm>
          <a:prstGeom prst="ellipse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599" y="2468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6E73"/>
                </a:solidFill>
                <a:latin typeface="SF Pro Display"/>
              </a:rPr>
              <a:t>Terminal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599" y="2788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Text"/>
              </a:rPr>
              <a:t>Tests laufen</a:t>
            </a:r>
          </a:p>
        </p:txBody>
      </p:sp>
      <p:sp>
        <p:nvSpPr>
          <p:cNvPr id="16" name="Oval 15"/>
          <p:cNvSpPr/>
          <p:nvPr/>
        </p:nvSpPr>
        <p:spPr>
          <a:xfrm>
            <a:off x="5376672" y="2029968"/>
            <a:ext cx="329184" cy="329184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468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F0A"/>
                </a:solidFill>
                <a:latin typeface="SF Pro Display"/>
              </a:rPr>
              <a:t>Instruments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788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Text"/>
              </a:rPr>
              <a:t>Profilen</a:t>
            </a:r>
          </a:p>
        </p:txBody>
      </p:sp>
      <p:sp>
        <p:nvSpPr>
          <p:cNvPr id="19" name="Oval 18"/>
          <p:cNvSpPr/>
          <p:nvPr/>
        </p:nvSpPr>
        <p:spPr>
          <a:xfrm>
            <a:off x="6931152" y="2029968"/>
            <a:ext cx="329184" cy="329184"/>
          </a:xfrm>
          <a:prstGeom prst="ellipse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468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53A"/>
                </a:solidFill>
                <a:latin typeface="SF Pro Display"/>
              </a:rPr>
              <a:t>Organizer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788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Text"/>
              </a:rPr>
              <a:t>Crash prüfen</a:t>
            </a:r>
          </a:p>
        </p:txBody>
      </p:sp>
      <p:sp>
        <p:nvSpPr>
          <p:cNvPr id="22" name="Oval 21"/>
          <p:cNvSpPr/>
          <p:nvPr/>
        </p:nvSpPr>
        <p:spPr>
          <a:xfrm>
            <a:off x="8485632" y="2029968"/>
            <a:ext cx="329184" cy="329184"/>
          </a:xfrm>
          <a:prstGeom prst="ellipse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468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6E73"/>
                </a:solidFill>
                <a:latin typeface="SF Pro Display"/>
              </a:rPr>
              <a:t>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788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Text"/>
              </a:rPr>
              <a:t>IPA exportieren</a:t>
            </a:r>
          </a:p>
        </p:txBody>
      </p:sp>
      <p:sp>
        <p:nvSpPr>
          <p:cNvPr id="25" name="Oval 24"/>
          <p:cNvSpPr/>
          <p:nvPr/>
        </p:nvSpPr>
        <p:spPr>
          <a:xfrm>
            <a:off x="10040111" y="2029968"/>
            <a:ext cx="329184" cy="329184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19" y="2468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84FF"/>
                </a:solidFill>
                <a:latin typeface="SF Pro Display"/>
              </a:rPr>
              <a:t>Xcode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2788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Text"/>
              </a:rPr>
              <a:t>Upload starten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3291840"/>
            <a:ext cx="10058400" cy="36576"/>
          </a:xfrm>
          <a:prstGeom prst="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429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453A"/>
                </a:solidFill>
                <a:latin typeface="SF Pro Text"/>
              </a:rPr>
              <a:t>Ständige Tool-Wechsel · Unterbrechungen · Kontextverlust · Flüchtigkeitsfehler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023360"/>
            <a:ext cx="10789920" cy="21945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023360"/>
            <a:ext cx="54864" cy="21945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25196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5F7"/>
                </a:solidFill>
                <a:latin typeface="SF Pro Display"/>
              </a:rPr>
              <a:t>Das kostet Zeit.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A1A1A6"/>
                </a:solidFill>
                <a:latin typeface="SF Pro Text"/>
              </a:rPr>
              <a:t>Nicht einmalig — täglich. Jedes Mal, wenn man ein Tool sucht, einen Befehl googelt oder
einen Schritt vergisst. Multipliziert über Wochen und Monate wird das spürbar.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21424"/>
            <a:ext cx="6094476" cy="36576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94476" y="6821424"/>
            <a:ext cx="6094476" cy="36576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36576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36576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0D158"/>
                </a:solidFill>
                <a:latin typeface="SF Pro Display"/>
              </a:rPr>
              <a:t>DIE LÖSUNG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5F5F7"/>
                </a:solidFill>
                <a:latin typeface="SF Pro Display"/>
              </a:rPr>
              <a:t>Eine Toolbox. Alle Workflows.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A1A1A6"/>
                </a:solidFill>
                <a:latin typeface="SF Pro Text"/>
              </a:rPr>
              <a:t>Tastaturgesteuert · Nullkonfiguration · Persistent · Vollständig lokalisiert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303520" cy="18288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886200"/>
            <a:ext cx="5303520" cy="4572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286000"/>
            <a:ext cx="502920" cy="50292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677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F5F7"/>
                </a:solidFill>
                <a:latin typeface="SF Pro Text"/>
              </a:rPr>
              <a:t>⌨️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6771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F5F7"/>
                </a:solidFill>
                <a:latin typeface="SF Pro Display"/>
              </a:rPr>
              <a:t>Tastaturgesteuert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79192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6"/>
                </a:solidFill>
                <a:latin typeface="SF Pro Text"/>
              </a:rPr>
              <a:t>Globale Shortcuts für Schema (S), Gerät (D),
Konfiguration (K), Sprache (L), Hilfe (H).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103120"/>
            <a:ext cx="5303520" cy="18288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886200"/>
            <a:ext cx="5303520" cy="4572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0" y="2286000"/>
            <a:ext cx="502920" cy="50292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2677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F5F7"/>
                </a:solidFill>
                <a:latin typeface="SF Pro Text"/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26771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F5F7"/>
                </a:solidFill>
                <a:latin typeface="SF Pro Display"/>
              </a:rPr>
              <a:t>Nullkonfiguration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679192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6"/>
                </a:solidFill>
                <a:latin typeface="SF Pro Text"/>
              </a:rPr>
              <a:t>Erkennt .xcworkspace / .xcodeproj automatisch.
Kein Setup. Sofort starten.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51960"/>
            <a:ext cx="5303520" cy="18288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6035040"/>
            <a:ext cx="5303520" cy="4572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4165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F5F7"/>
                </a:solidFill>
                <a:latin typeface="SF Pro Text"/>
              </a:rPr>
              <a:t>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41655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F5F7"/>
                </a:solidFill>
                <a:latin typeface="SF Pro Display"/>
              </a:rPr>
              <a:t>Persistent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828032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6"/>
                </a:solidFill>
                <a:latin typeface="SF Pro Text"/>
              </a:rPr>
              <a:t>Schema, Gerät und Verzeichnis werden projekt-
weise gespeichert und wiederhergestellt.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251960"/>
            <a:ext cx="5303520" cy="18288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6035040"/>
            <a:ext cx="5303520" cy="4572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83680" y="4434840"/>
            <a:ext cx="502920" cy="502920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4165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F5F7"/>
                </a:solidFill>
                <a:latin typeface="SF Pro Text"/>
              </a:rPr>
              <a:t>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41655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F5F7"/>
                </a:solidFill>
                <a:latin typeface="SF Pro Display"/>
              </a:rPr>
              <a:t>Vollständig DE/EN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828032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6"/>
                </a:solidFill>
                <a:latin typeface="SF Pro Text"/>
              </a:rPr>
              <a:t>Komplette Lokalisierung, umschaltbar im
laufenden Betrieb mit einem Tastendruck.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21424"/>
            <a:ext cx="6094476" cy="36576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4476" y="6821424"/>
            <a:ext cx="6094476" cy="36576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36576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36576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84FF"/>
                </a:solidFill>
                <a:latin typeface="SF Pro Display"/>
              </a:rPr>
              <a:t>FUNKTIONSÜBERBLICK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F5F7"/>
                </a:solidFill>
                <a:latin typeface="SF Pro Display"/>
              </a:rPr>
              <a:t>22 Themenbereiche. Jeder Workflow abgedeckt.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2834640" cy="14173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36576" cy="141732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6184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F5F7"/>
                </a:solidFill>
                <a:latin typeface="SF Pro Text"/>
              </a:rPr>
              <a:t>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SF Pro Display"/>
              </a:rPr>
              <a:t>Clean &amp; Cache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Text"/>
              </a:rPr>
              <a:t>9 Aktionen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63824" y="1508760"/>
            <a:ext cx="2834640" cy="14173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63824" y="1508760"/>
            <a:ext cx="36576" cy="141732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8416" y="16184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F5F7"/>
                </a:solidFill>
                <a:latin typeface="SF Pro Text"/>
              </a:rPr>
              <a:t>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8184" y="1600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SF Pro Display"/>
              </a:rPr>
              <a:t>Build &amp; Simulator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4" y="20116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Text"/>
              </a:rPr>
              <a:t>8 Aktionen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8" y="1508760"/>
            <a:ext cx="2834640" cy="14173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53328" y="1508760"/>
            <a:ext cx="36576" cy="141732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6184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F5F7"/>
                </a:solidFill>
                <a:latin typeface="SF Pro Text"/>
              </a:rPr>
              <a:t>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1600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SF Pro Display"/>
              </a:rPr>
              <a:t>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0116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Text"/>
              </a:rPr>
              <a:t>8 Aktionen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42832" y="1508760"/>
            <a:ext cx="2834640" cy="14173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42832" y="1508760"/>
            <a:ext cx="36576" cy="141732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7424" y="16184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F5F7"/>
                </a:solidFill>
                <a:latin typeface="SF Pro Text"/>
              </a:rP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7192" y="1600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SF Pro Display"/>
              </a:rPr>
              <a:t>Code Quality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7192" y="20116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Text"/>
              </a:rPr>
              <a:t>SwiftLint · Periphery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980944"/>
            <a:ext cx="2834640" cy="14173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2980944"/>
            <a:ext cx="36576" cy="141732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30906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F5F7"/>
                </a:solidFill>
                <a:latin typeface="SF Pro Text"/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07238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SF Pro Display"/>
              </a:rPr>
              <a:t>Projektanalyse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48386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Text"/>
              </a:rPr>
              <a:t>38 Abfragen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3824" y="2980944"/>
            <a:ext cx="2834640" cy="14173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3824" y="2980944"/>
            <a:ext cx="36576" cy="1417320"/>
          </a:xfrm>
          <a:prstGeom prst="rect">
            <a:avLst/>
          </a:prstGeom>
          <a:solidFill>
            <a:srgbClr val="5C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0906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F5F7"/>
                </a:solidFill>
                <a:latin typeface="SF Pro Text"/>
              </a:rPr>
              <a:t>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58184" y="307238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SF Pro Display"/>
              </a:rPr>
              <a:t>Metriken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58184" y="348386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Text"/>
              </a:rPr>
              <a:t>5-Punkte-Score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53328" y="2980944"/>
            <a:ext cx="2834640" cy="14173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53328" y="2980944"/>
            <a:ext cx="36576" cy="141732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30906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F5F7"/>
                </a:solidFill>
                <a:latin typeface="SF Pro Text"/>
              </a:rPr>
              <a:t>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7688" y="307238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SF Pro Display"/>
              </a:rPr>
              <a:t>Git-Analyse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47688" y="348386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Text"/>
              </a:rPr>
              <a:t>55+ Abfragen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42832" y="2980944"/>
            <a:ext cx="2834640" cy="14173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42832" y="2980944"/>
            <a:ext cx="36576" cy="1417320"/>
          </a:xfrm>
          <a:prstGeom prst="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07424" y="30906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F5F7"/>
                </a:solidFill>
                <a:latin typeface="SF Pro Text"/>
              </a:rPr>
              <a:t>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37192" y="307238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SF Pro Display"/>
              </a:rPr>
              <a:t>Crash &amp; Debug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37192" y="348386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Text"/>
              </a:rPr>
              <a:t>10 Aktionen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453128"/>
            <a:ext cx="2834640" cy="14173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4453128"/>
            <a:ext cx="36576" cy="141732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456285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F5F7"/>
                </a:solidFill>
                <a:latin typeface="SF Pro Text"/>
              </a:rPr>
              <a:t>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45445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SF Pro Display"/>
              </a:rPr>
              <a:t>Binäranalyse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495604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Text"/>
              </a:rPr>
              <a:t>9 Aktionen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3824" y="4453128"/>
            <a:ext cx="2834640" cy="14173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3824" y="4453128"/>
            <a:ext cx="36576" cy="141732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28416" y="456285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F5F7"/>
                </a:solidFill>
                <a:latin typeface="SF Pro Text"/>
              </a:rPr>
              <a:t>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58184" y="45445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SF Pro Display"/>
              </a:rPr>
              <a:t>Distribution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58184" y="495604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Text"/>
              </a:rPr>
              <a:t>IPA · TestFlight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53328" y="4453128"/>
            <a:ext cx="2834640" cy="14173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053328" y="4453128"/>
            <a:ext cx="36576" cy="1417320"/>
          </a:xfrm>
          <a:prstGeom prst="rect">
            <a:avLst/>
          </a:prstGeom>
          <a:solidFill>
            <a:srgbClr val="5C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0" y="456285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F5F7"/>
                </a:solidFill>
                <a:latin typeface="SF Pro Text"/>
              </a:rPr>
              <a:t>🌍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47688" y="45445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SF Pro Display"/>
              </a:rPr>
              <a:t>Lokalisierung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47688" y="495604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Text"/>
              </a:rPr>
              <a:t>8 Aktionen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42832" y="4453128"/>
            <a:ext cx="2834640" cy="14173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942832" y="4453128"/>
            <a:ext cx="36576" cy="141732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07424" y="456285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F5F7"/>
                </a:solidFill>
                <a:latin typeface="SF Pro Text"/>
              </a:rPr>
              <a:t>🔑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37192" y="45445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SF Pro Display"/>
              </a:rPr>
              <a:t>Code Signing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37192" y="495604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Text"/>
              </a:rPr>
              <a:t>8 Aktionen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6E73"/>
                </a:solidFill>
                <a:latin typeface="SF Pro Text"/>
              </a:rPr>
              <a:t>+ Geräte (devicectl) · Abhängigkeiten · Versionsverwaltung · Profiling · XCFramework · DocC · Xcode-Verwaltung · Info &amp; Diagnose · App-Launcher · Benutzerdefiniertes Menü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821424"/>
            <a:ext cx="6094476" cy="36576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4476" y="6821424"/>
            <a:ext cx="6094476" cy="36576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36576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36576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1A1A6"/>
                </a:solidFill>
                <a:latin typeface="SF Pro Display"/>
              </a:rPr>
              <a:t>DREI MODI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F5F7"/>
                </a:solidFill>
                <a:latin typeface="SF Pro Display"/>
              </a:rPr>
              <a:t>Einfach. Komplett. Oder ganz individuell.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794760" cy="50292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3794760" cy="64008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0D158"/>
                </a:solidFill>
                <a:latin typeface="SF Pro Display"/>
              </a:rPr>
              <a:t>SIMPLE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F5F7"/>
                </a:solidFill>
                <a:latin typeface="SF Pro Display"/>
              </a:rPr>
              <a:t>Tägliche Schnellaufgaben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16 Aktionen für den Alltag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✓  Cache leeren (4 Varianten)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284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✓  Build &amp; Run, App starten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850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✓  Quick Reset &amp;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416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✓  Unit Tests ausführen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982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✓  Simulator-Steuerung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548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✓  Screenshot, Dark/Light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1114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✓  Xcode öffnen / schließen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463040"/>
            <a:ext cx="3794760" cy="50292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1463040"/>
            <a:ext cx="3794760" cy="64008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691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84FF"/>
                </a:solidFill>
                <a:latin typeface="SF Pro Display"/>
              </a:rPr>
              <a:t>EXTENDED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011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F5F7"/>
                </a:solidFill>
                <a:latin typeface="SF Pro Display"/>
              </a:rPr>
              <a:t>Vollständiger Umfang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514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22 Bereiche · über 100 Aktionen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971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✓  38 Projektanalysen (read-only)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3284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✓  SwiftLint · Periphery · Analyzer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6850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✓  55+ Git-Abfragen &amp; 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0416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✓  Binäranalyse &amp; Crash-Debug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3982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✓  Distribution &amp; Release-Checkliste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7548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✓  5-Punkte Qualitäts-Score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1114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✓  XCFramework · DocC · Signing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19872" y="1463040"/>
            <a:ext cx="3794760" cy="50292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19872" y="1463040"/>
            <a:ext cx="3794760" cy="64008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8472" y="1691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5AF2"/>
                </a:solidFill>
                <a:latin typeface="SF Pro Display"/>
              </a:rPr>
              <a:t>CUSTOM MODE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2011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F5F7"/>
                </a:solidFill>
                <a:latin typeface="SF Pro Display"/>
              </a:rPr>
              <a:t>Persönliches Menü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2" y="2514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20 frei belegbare Slots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2" y="2971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✓  Aktionen aus allen 22 Bereichen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2" y="33284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✓  Reihenfolge frei konfigurierbar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2" y="36850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✓  Persistent gespeichert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8472" y="40416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✓  Umschaltbar via M) jederzeit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2" y="43982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✓  Untermenüs &amp; Einzelaktionen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47548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✓  Optimal für eigenen Workflow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51114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✓  Kein Umweg durch Hauptmenü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821424"/>
            <a:ext cx="6094476" cy="36576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94476" y="6821424"/>
            <a:ext cx="6094476" cy="36576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36576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36576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84FF"/>
                </a:solidFill>
                <a:latin typeface="SF Pro Display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F5F7"/>
                </a:solidFill>
                <a:latin typeface="SF Pro Display"/>
              </a:rPr>
              <a:t>Von der Idee zum Release — ohne Tool-Wechsel.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3291840"/>
            <a:ext cx="9509760" cy="36576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3063240"/>
            <a:ext cx="585216" cy="585216"/>
          </a:xfrm>
          <a:prstGeom prst="ellipse">
            <a:avLst/>
          </a:prstGeom>
          <a:solidFill>
            <a:srgbClr val="0A84FF"/>
          </a:solidFill>
          <a:ln w="1905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108960"/>
            <a:ext cx="585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F Pro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SF Pro Display"/>
              </a:rPr>
              <a:t>Starten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19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swift run im Projekt-Root.
Automatische Projekterkennung.</a:t>
            </a:r>
          </a:p>
        </p:txBody>
      </p:sp>
      <p:sp>
        <p:nvSpPr>
          <p:cNvPr id="11" name="Oval 10"/>
          <p:cNvSpPr/>
          <p:nvPr/>
        </p:nvSpPr>
        <p:spPr>
          <a:xfrm>
            <a:off x="3136392" y="3063240"/>
            <a:ext cx="585216" cy="585216"/>
          </a:xfrm>
          <a:prstGeom prst="ellipse">
            <a:avLst/>
          </a:prstGeom>
          <a:solidFill>
            <a:srgbClr val="1C1C1E"/>
          </a:solidFill>
          <a:ln w="1905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2" y="3108960"/>
            <a:ext cx="585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0D158"/>
                </a:solidFill>
                <a:latin typeface="SF Pro Display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749039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SF Pro Display"/>
              </a:rPr>
              <a:t>Konfigurieren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4160519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S für Schema, D für Gerät —
einmal setzen, persistent gespeichert.</a:t>
            </a:r>
          </a:p>
        </p:txBody>
      </p:sp>
      <p:sp>
        <p:nvSpPr>
          <p:cNvPr id="15" name="Oval 14"/>
          <p:cNvSpPr/>
          <p:nvPr/>
        </p:nvSpPr>
        <p:spPr>
          <a:xfrm>
            <a:off x="5468112" y="3063240"/>
            <a:ext cx="585216" cy="585216"/>
          </a:xfrm>
          <a:prstGeom prst="ellipse">
            <a:avLst/>
          </a:prstGeom>
          <a:solidFill>
            <a:srgbClr val="1C1C1E"/>
          </a:solidFill>
          <a:ln w="1905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68112" y="3108960"/>
            <a:ext cx="585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9F0A"/>
                </a:solidFill>
                <a:latin typeface="SF Pro Display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749039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SF Pro Display"/>
              </a:rPr>
              <a:t>Entwickeln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160519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Build &amp; Run, Tests, Code Quality —
täglich, schnell, tastaturgesteuert.</a:t>
            </a:r>
          </a:p>
        </p:txBody>
      </p:sp>
      <p:sp>
        <p:nvSpPr>
          <p:cNvPr id="19" name="Oval 18"/>
          <p:cNvSpPr/>
          <p:nvPr/>
        </p:nvSpPr>
        <p:spPr>
          <a:xfrm>
            <a:off x="7799832" y="3063240"/>
            <a:ext cx="585216" cy="585216"/>
          </a:xfrm>
          <a:prstGeom prst="ellipse">
            <a:avLst/>
          </a:prstGeom>
          <a:solidFill>
            <a:srgbClr val="1C1C1E"/>
          </a:solidFill>
          <a:ln w="19050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2" y="3108960"/>
            <a:ext cx="585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F5AF2"/>
                </a:solidFill>
                <a:latin typeface="SF Pro Display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749039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SF Pro Display"/>
              </a:rPr>
              <a:t>Analysieren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4160519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38 Projektabfragen, SwiftLint,
Metriken, Git-Hotspots.</a:t>
            </a:r>
          </a:p>
        </p:txBody>
      </p:sp>
      <p:sp>
        <p:nvSpPr>
          <p:cNvPr id="23" name="Oval 22"/>
          <p:cNvSpPr/>
          <p:nvPr/>
        </p:nvSpPr>
        <p:spPr>
          <a:xfrm>
            <a:off x="10131551" y="3063240"/>
            <a:ext cx="585216" cy="585216"/>
          </a:xfrm>
          <a:prstGeom prst="ellipse">
            <a:avLst/>
          </a:prstGeom>
          <a:solidFill>
            <a:srgbClr val="1C1C1E"/>
          </a:solidFill>
          <a:ln w="1905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31551" y="3108960"/>
            <a:ext cx="585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0D158"/>
                </a:solidFill>
                <a:latin typeface="SF Pro Display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59" y="3749039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SF Pro Display"/>
              </a:rPr>
              <a:t>Releasen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59" y="4160519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Checkliste, IPA Export, Upload —
alles im selben Tool.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029200"/>
            <a:ext cx="10789920" cy="150876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1663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0D158"/>
                </a:solidFill>
                <a:latin typeface="SF Pro Text"/>
              </a:rPr>
              <a:t>$ cd ~/Projects/MyApp &amp;&amp; swift run xcode-toolbox
→  Projekt erkannt: MyApp.xcworkspace
→  Schema: MyApp  |  Gerät: iPhone 16 Pro (18.3)  |  Modus: Erweitert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21424"/>
            <a:ext cx="6094476" cy="36576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4476" y="6821424"/>
            <a:ext cx="6094476" cy="36576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36576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36576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F0A"/>
                </a:solidFill>
                <a:latin typeface="SF Pro Display"/>
              </a:rPr>
              <a:t>CODEQUALITÄT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5F7"/>
                </a:solidFill>
                <a:latin typeface="SF Pro Display"/>
              </a:rPr>
              <a:t>Code-Qualität sichtbar machen.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943600" cy="50292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SF Pro Display"/>
              </a:rPr>
              <a:t>Qualitäts-Score — Gesamtprojekt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6"/>
                </a:solidFill>
                <a:latin typeface="SF Pro Text"/>
              </a:rPr>
              <a:t>Safety 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304288"/>
            <a:ext cx="3108960" cy="256032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0" y="2304288"/>
            <a:ext cx="2549347" cy="256032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0D158"/>
                </a:solidFill>
                <a:latin typeface="SF Pro Display"/>
              </a:rPr>
              <a:t>8.2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358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6"/>
                </a:solidFill>
                <a:latin typeface="SF Pro Text"/>
              </a:rPr>
              <a:t>Maintainability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3099816"/>
            <a:ext cx="3108960" cy="256032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0" y="3099816"/>
            <a:ext cx="2207361" cy="256032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0358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0D158"/>
                </a:solidFill>
                <a:latin typeface="SF Pro Display"/>
              </a:rPr>
              <a:t>7.1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3133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6"/>
                </a:solidFill>
                <a:latin typeface="SF Pro Text"/>
              </a:rPr>
              <a:t>Readability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3895344"/>
            <a:ext cx="3108960" cy="256032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26080" y="3895344"/>
            <a:ext cx="1647748" cy="256032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83133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9F0A"/>
                </a:solidFill>
                <a:latin typeface="SF Pro Display"/>
              </a:rPr>
              <a:t>5.3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268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6"/>
                </a:solidFill>
                <a:latin typeface="SF Pro Text"/>
              </a:rPr>
              <a:t>Architecture 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4690872"/>
            <a:ext cx="3108960" cy="256032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26080" y="4690872"/>
            <a:ext cx="2487168" cy="256032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62686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0D158"/>
                </a:solidFill>
                <a:latin typeface="SF Pro Display"/>
              </a:rPr>
              <a:t>8.0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223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6"/>
                </a:solidFill>
                <a:latin typeface="SF Pro Text"/>
              </a:rPr>
              <a:t>Testability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5486400"/>
            <a:ext cx="3108960" cy="256032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26080" y="5486400"/>
            <a:ext cx="1989734" cy="256032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54223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9F0A"/>
                </a:solidFill>
                <a:latin typeface="SF Pro Display"/>
              </a:rPr>
              <a:t>6.4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669280"/>
            <a:ext cx="5303520" cy="36576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SF Pro Display"/>
              </a:rPr>
              <a:t>Overall Score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5824728"/>
            <a:ext cx="2176272" cy="256032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5760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30D158"/>
                </a:solidFill>
                <a:latin typeface="SF Pro Display"/>
              </a:rPr>
              <a:t>7.0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SF Pro Display"/>
              </a:rPr>
              <a:t>Integrierte Analyse-Tools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2194560"/>
            <a:ext cx="5029200" cy="713232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0" y="2194560"/>
            <a:ext cx="36576" cy="713232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224942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SF Pro Display"/>
              </a:rPr>
              <a:t>SwiftLint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254203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3 Anzeigemodi: gruppiert nach Regel, kompakt, nach Datei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3054096"/>
            <a:ext cx="5029200" cy="713232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0" y="3054096"/>
            <a:ext cx="36576" cy="713232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31089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SF Pro Display"/>
              </a:rPr>
              <a:t>Periphery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40156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Erkennt ungenutzte Klassen, Methoden, Properties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3913631"/>
            <a:ext cx="5029200" cy="713232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58000" y="3913631"/>
            <a:ext cx="36576" cy="713232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0" y="3968495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SF Pro Display"/>
              </a:rPr>
              <a:t>SwiftFormat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261103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Dry-run: Formatierungsprobleme ohne Änderungen anzeigen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4773168"/>
            <a:ext cx="5029200" cy="713232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58000" y="4773168"/>
            <a:ext cx="36576" cy="713232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0" y="482803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SF Pro Display"/>
              </a:rPr>
              <a:t>Analyzer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51206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Xcode's eingebauter statischer Analyzer integriert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0" y="5632704"/>
            <a:ext cx="5029200" cy="713232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58000" y="5632704"/>
            <a:ext cx="36576" cy="713232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40880" y="568756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SF Pro Display"/>
              </a:rPr>
              <a:t>59 Checks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598017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Eigene Pattern-Checks: Force Unwraps, Print Calls, lange Funktionen …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821424"/>
            <a:ext cx="6094476" cy="36576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094476" y="6821424"/>
            <a:ext cx="6094476" cy="36576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36576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36576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0D158"/>
                </a:solidFill>
                <a:latin typeface="SF Pro Display"/>
              </a:rPr>
              <a:t>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5F7"/>
                </a:solidFill>
                <a:latin typeface="SF Pro Display"/>
              </a:rPr>
              <a:t>Release-Prozess — vollständig abgedeckt.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669280" cy="50749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SF Pro Display"/>
              </a:rPr>
              <a:t>Release-Checkliste (automatisch)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D158"/>
                </a:solidFill>
                <a:latin typeface="SF Pro Display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7"/>
                </a:solidFill>
                <a:latin typeface="SF Pro Text"/>
              </a:rPr>
              <a:t>Git-Status sauber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F Pro Text"/>
              </a:rPr>
              <a:t>keine uncommitted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32887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D158"/>
                </a:solidFill>
                <a:latin typeface="SF Pro Display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32887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7"/>
                </a:solidFill>
                <a:latin typeface="SF Pro Text"/>
              </a:rPr>
              <a:t>Marketing-Version gesetzt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53288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F Pro Text"/>
              </a:rPr>
              <a:t>2.4.0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6265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D158"/>
                </a:solidFill>
                <a:latin typeface="SF Pro Display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6265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7"/>
                </a:solidFill>
                <a:latin typeface="SF Pro Text"/>
              </a:rPr>
              <a:t>Build-Nummer gesetzt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96265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F Pro Text"/>
              </a:rPr>
              <a:t>847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92424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D158"/>
                </a:solidFill>
                <a:latin typeface="SF Pro Display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9242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7"/>
                </a:solidFill>
                <a:latin typeface="SF Pro Text"/>
              </a:rPr>
              <a:t>App-Icon vorhanden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39242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F Pro Text"/>
              </a:rPr>
              <a:t>AppIcon.xcassets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22191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D158"/>
                </a:solidFill>
                <a:latin typeface="SF Pro Display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22191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7"/>
                </a:solidFill>
                <a:latin typeface="SF Pro Text"/>
              </a:rPr>
              <a:t>Launch Screen vorhanden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822191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F Pro Text"/>
              </a:rPr>
              <a:t>LaunchScreen.storyboard 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251959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D158"/>
                </a:solidFill>
                <a:latin typeface="SF Pro Display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2519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7"/>
                </a:solidFill>
                <a:latin typeface="SF Pro Text"/>
              </a:rPr>
              <a:t>Privacy Manifest vorhanden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25195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F Pro Text"/>
              </a:rPr>
              <a:t>PrivacyInfo.xcprivacy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81727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D158"/>
                </a:solidFill>
                <a:latin typeface="SF Pro Display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681727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7"/>
                </a:solidFill>
                <a:latin typeface="SF Pro Text"/>
              </a:rPr>
              <a:t>SwiftLint: keine Fehler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68172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F Pro Text"/>
              </a:rPr>
              <a:t>0 errors, 3 warnings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1149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53A"/>
                </a:solidFill>
                <a:latin typeface="SF Pro Display"/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1114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453A"/>
                </a:solidFill>
                <a:latin typeface="SF Pro Text"/>
              </a:rPr>
              <a:t>Offene TODOs gefunden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11149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F Pro Text"/>
              </a:rPr>
              <a:t>7 TODOs in 4 Dateien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541264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D158"/>
                </a:solidFill>
                <a:latin typeface="SF Pro Display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54126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7"/>
                </a:solidFill>
                <a:latin typeface="SF Pro Text"/>
              </a:rPr>
              <a:t>Keine force unwraps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554126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F Pro Text"/>
              </a:rPr>
              <a:t>clean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971031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D158"/>
                </a:solidFill>
                <a:latin typeface="SF Pro Display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5971031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7"/>
                </a:solidFill>
                <a:latin typeface="SF Pro Text"/>
              </a:rPr>
              <a:t>Keine Debug-Print-Aufrufe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5971031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F Pro Text"/>
              </a:rPr>
              <a:t>clean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6400800"/>
            <a:ext cx="5212080" cy="36576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1600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SF Pro Display"/>
              </a:rPr>
              <a:t>Release-Schritte im Tool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2103120"/>
            <a:ext cx="2423160" cy="18288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0" y="2103120"/>
            <a:ext cx="2423160" cy="4572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720840" y="2286000"/>
            <a:ext cx="457200" cy="45720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22860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F Pro Display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8803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SF Pro Display"/>
              </a:rPr>
              <a:t>IPA exportieren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32461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Distributions-Methode wählen,
xcarchive → .ipa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2103120"/>
            <a:ext cx="2423160" cy="18288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35440" y="2103120"/>
            <a:ext cx="2423160" cy="4572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372600" y="2286000"/>
            <a:ext cx="457200" cy="45720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22860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F Pro Display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600" y="28803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SF Pro Display"/>
              </a:rPr>
              <a:t>Validieren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72600" y="32461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IPA vor Upload automatisch
prüfen (xcrun altool)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4297679"/>
            <a:ext cx="2423160" cy="18288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583680" y="4297679"/>
            <a:ext cx="2423160" cy="4572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720840" y="4480559"/>
            <a:ext cx="457200" cy="457200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20840" y="448055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F Pro Display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5074919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SF Pro Display"/>
              </a:rPr>
              <a:t>Hochladen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0840" y="5440679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Direkt zu TestFlight /
App Store Connect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35440" y="4297679"/>
            <a:ext cx="2423160" cy="18288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235440" y="4297679"/>
            <a:ext cx="2423160" cy="4572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372600" y="4480559"/>
            <a:ext cx="457200" cy="457200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72600" y="448055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F Pro Display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72600" y="5074919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SF Pro Display"/>
              </a:rPr>
              <a:t>Notarisieren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72600" y="5440679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macOS Apps mit xcrun
notarytool signieren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821424"/>
            <a:ext cx="6094476" cy="36576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4476" y="6821424"/>
            <a:ext cx="6094476" cy="36576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36576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36576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0D158"/>
                </a:solidFill>
                <a:latin typeface="SF Pro Display"/>
              </a:rPr>
              <a:t>VORTEILE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5F7"/>
                </a:solidFill>
                <a:latin typeface="SF Pro Display"/>
              </a:rPr>
              <a:t>Weniger Reibung. Mehr Entwicklung.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3611880" cy="21031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611880" cy="4572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5F5F7"/>
                </a:solidFill>
                <a:latin typeface="SF Pro Text"/>
              </a:rPr>
              <a:t>⚡️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5F7"/>
                </a:solidFill>
                <a:latin typeface="SF Pro Display"/>
              </a:rPr>
              <a:t>Zeitersparnis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79192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Wiederkehrende Aufgaben dauern Sekunden statt Minuten.
Kein Befehle suchen, kein Kontextwechsel.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3611880" cy="21031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3611880" cy="4572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783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5F5F7"/>
                </a:solidFill>
                <a:latin typeface="SF Pro Text"/>
              </a:rPr>
              <a:t>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860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5F7"/>
                </a:solidFill>
                <a:latin typeface="SF Pro Display"/>
              </a:rPr>
              <a:t>Weniger Fehler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679192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10-Punkte Release-Checkliste verhindert häufige
Fehler vor dem App-Store-Upload.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600200"/>
            <a:ext cx="3611880" cy="21031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600200"/>
            <a:ext cx="3611880" cy="4572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83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5F5F7"/>
                </a:solidFill>
                <a:latin typeface="SF Pro Text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860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5F7"/>
                </a:solidFill>
                <a:latin typeface="SF Pro Display"/>
              </a:rPr>
              <a:t>Bessere Codequalität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679192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SwiftLint, Periphery und Metriken im täglichen
Workflow — nicht nur bei CI-Läufen.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77639"/>
            <a:ext cx="3611880" cy="21031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77639"/>
            <a:ext cx="3611880" cy="45720"/>
          </a:xfrm>
          <a:prstGeom prst="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16051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5F5F7"/>
                </a:solidFill>
                <a:latin typeface="SF Pro Text"/>
              </a:rP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63439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5F7"/>
                </a:solidFill>
                <a:latin typeface="SF Pro Display"/>
              </a:rPr>
              <a:t>Schnelleres Debugging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56631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Crash symbolicaten, Logs browsen, dSYM prüfen —
alles in einer Oberfläche.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977639"/>
            <a:ext cx="3611880" cy="21031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977639"/>
            <a:ext cx="3611880" cy="4572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416051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5F5F7"/>
                </a:solidFill>
                <a:latin typeface="SF Pro Text"/>
              </a:rPr>
              <a:t>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663439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5F7"/>
                </a:solidFill>
                <a:latin typeface="SF Pro Display"/>
              </a:rPr>
              <a:t>Schnellere Releases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056631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Vom Build bis zum Upload ohne Tool-Wechsel —
der komplette Release-Prozess integriert.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977639"/>
            <a:ext cx="3611880" cy="21031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3977639"/>
            <a:ext cx="3611880" cy="45720"/>
          </a:xfrm>
          <a:prstGeom prst="rect">
            <a:avLst/>
          </a:prstGeom>
          <a:solidFill>
            <a:srgbClr val="5C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16051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5F5F7"/>
                </a:solidFill>
                <a:latin typeface="SF Pro Text"/>
              </a:rPr>
              <a:t>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663439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5F7"/>
                </a:solidFill>
                <a:latin typeface="SF Pro Display"/>
              </a:rPr>
              <a:t>Mehr Überblick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056631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SF Pro Text"/>
              </a:rPr>
              <a:t>38 Analysen und Git-Hotspots liefern Einblicke,
die man sonst nicht systematisch hätte.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821424"/>
            <a:ext cx="6094476" cy="36576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94476" y="6821424"/>
            <a:ext cx="6094476" cy="36576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36576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36576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1A1A6"/>
                </a:solidFill>
                <a:latin typeface="SF Pro Display"/>
              </a:rPr>
              <a:t>ZIELGRUPPE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F5F7"/>
                </a:solidFill>
                <a:latin typeface="SF Pro Display"/>
              </a:rPr>
              <a:t>Für alle, die ernsthaft für Apple entwickeln.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486400" cy="21945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45720" cy="21945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5F5F7"/>
                </a:solidFill>
                <a:latin typeface="SF Pro Text"/>
              </a:rPr>
              <a:t>🧑‍💻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7099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F5F7"/>
                </a:solidFill>
                <a:latin typeface="SF Pro Display"/>
              </a:rPr>
              <a:t>iOS-Entwickler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30552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6"/>
                </a:solidFill>
                <a:latin typeface="SF Pro Text"/>
              </a:rPr>
              <a:t>Tägliche Xcode-, Build- und Test-Workflows. Simulator, Geräte, App-Store-Prozesse.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3063240"/>
            <a:ext cx="1234440" cy="29260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063240"/>
            <a:ext cx="1234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SF Pro Text"/>
              </a:rPr>
              <a:t>SwiftUI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3063240"/>
            <a:ext cx="1234440" cy="29260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3063240"/>
            <a:ext cx="1234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SF Pro Text"/>
              </a:rPr>
              <a:t>UIKit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77640" y="3063240"/>
            <a:ext cx="1234440" cy="29260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40" y="3063240"/>
            <a:ext cx="1234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SF Pro Text"/>
              </a:rPr>
              <a:t>TestFlight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3063240"/>
            <a:ext cx="1234440" cy="29260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3063240"/>
            <a:ext cx="1234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SF Pro Text"/>
              </a:rPr>
              <a:t>Simulator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600200"/>
            <a:ext cx="5486400" cy="21945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600200"/>
            <a:ext cx="45720" cy="219456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737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5F5F7"/>
                </a:solidFill>
                <a:latin typeface="SF Pro Text"/>
              </a:rPr>
              <a:t>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17099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F5F7"/>
                </a:solidFill>
                <a:latin typeface="SF Pro Display"/>
              </a:rPr>
              <a:t>macOS-Entwickler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130552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6"/>
                </a:solidFill>
                <a:latin typeface="SF Pro Text"/>
              </a:rPr>
              <a:t>Notarisierung, Signing, XCFrameworks, Binary-Analyse — vollständig unterstützt.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78040" y="3063240"/>
            <a:ext cx="1234440" cy="29260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3063240"/>
            <a:ext cx="1234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SF Pro Text"/>
              </a:rPr>
              <a:t>Notarization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3063240"/>
            <a:ext cx="1234440" cy="29260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063240"/>
            <a:ext cx="1234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SF Pro Text"/>
              </a:rPr>
              <a:t>XCFramework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29800" y="3063240"/>
            <a:ext cx="1234440" cy="29260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800" y="3063240"/>
            <a:ext cx="1234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SF Pro Text"/>
              </a:rPr>
              <a:t>Signing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114800"/>
            <a:ext cx="5486400" cy="21945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114800"/>
            <a:ext cx="45720" cy="219456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251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5F5F7"/>
                </a:solidFill>
                <a:latin typeface="SF Pro Text"/>
              </a:rPr>
              <a:t>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2245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F5F7"/>
                </a:solidFill>
                <a:latin typeface="SF Pro Display"/>
              </a:rPr>
              <a:t>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4645152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6"/>
                </a:solidFill>
                <a:latin typeface="SF Pro Text"/>
              </a:rPr>
              <a:t>Einheitliche Abläufe für alle. Kein individuelles Skript-Wirrwarr, eine gemeinsame Basis.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25880" y="5577840"/>
            <a:ext cx="1234440" cy="29260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5577840"/>
            <a:ext cx="1234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SF Pro Text"/>
              </a:rPr>
              <a:t>CI/CD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5577840"/>
            <a:ext cx="1234440" cy="29260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0" y="5577840"/>
            <a:ext cx="1234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SF Pro Text"/>
              </a:rPr>
              <a:t>Standards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77640" y="5577840"/>
            <a:ext cx="1234440" cy="29260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77640" y="5577840"/>
            <a:ext cx="1234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SF Pro Text"/>
              </a:rPr>
              <a:t>Onboarding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4114800"/>
            <a:ext cx="5486400" cy="21945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4114800"/>
            <a:ext cx="45720" cy="219456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4251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5F5F7"/>
                </a:solidFill>
                <a:latin typeface="SF Pro Text"/>
              </a:rPr>
              <a:t>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42245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F5F7"/>
                </a:solidFill>
                <a:latin typeface="SF Pro Display"/>
              </a:rPr>
              <a:t>Release-Verantwortliche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4645152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6"/>
                </a:solidFill>
                <a:latin typeface="SF Pro Text"/>
              </a:rPr>
              <a:t>Von der Checkliste bis zum Upload — der gesamte Release-Prozess in einem Tool.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78040" y="5577840"/>
            <a:ext cx="1234440" cy="29260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78040" y="5577840"/>
            <a:ext cx="1234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SF Pro Text"/>
              </a:rPr>
              <a:t>App Store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03920" y="5577840"/>
            <a:ext cx="1234440" cy="29260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03920" y="5577840"/>
            <a:ext cx="1234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SF Pro Text"/>
              </a:rPr>
              <a:t>TestFlight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29800" y="5577840"/>
            <a:ext cx="1234440" cy="29260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29800" y="5577840"/>
            <a:ext cx="1234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SF Pro Text"/>
              </a:rPr>
              <a:t>IPA Export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821424"/>
            <a:ext cx="6094476" cy="36576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94476" y="6821424"/>
            <a:ext cx="6094476" cy="36576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54864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0" y="914400"/>
            <a:ext cx="8229600" cy="8229600"/>
          </a:xfrm>
          <a:prstGeom prst="ellipse">
            <a:avLst/>
          </a:prstGeom>
          <a:solidFill>
            <a:srgbClr val="04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5F5F7"/>
                </a:solidFill>
                <a:latin typeface="SF Pro Display"/>
              </a:rPr>
              <a:t>Weniger Reibung.</a:t>
            </a:r>
          </a:p>
          <a:p>
            <a:pPr algn="ctr"/>
            <a:r>
              <a:rPr sz="6000" b="1" i="0">
                <a:solidFill>
                  <a:srgbClr val="0A84FF"/>
                </a:solidFill>
                <a:latin typeface="SF Pro Display"/>
              </a:rPr>
              <a:t>Mehr Entwicklung.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1A1A6"/>
                </a:solidFill>
                <a:latin typeface="SF Pro Text"/>
              </a:rPr>
              <a:t>Xcode Developer Toolbox — über 100 Workflows. Ein Tool. Null Dependencies.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4434840"/>
            <a:ext cx="2194560" cy="100584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44805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84FF"/>
                </a:solidFill>
                <a:latin typeface="SF Pro Display"/>
              </a:rPr>
              <a:t>100+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983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E6E73"/>
                </a:solidFill>
                <a:latin typeface="SF Pro Text"/>
              </a:rPr>
              <a:t>Aktionen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4434840"/>
            <a:ext cx="2194560" cy="100584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44805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84FF"/>
                </a:solidFill>
                <a:latin typeface="SF Pro Display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4983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E6E73"/>
                </a:solidFill>
                <a:latin typeface="SF Pro Text"/>
              </a:rPr>
              <a:t>Bereiche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59" y="4434840"/>
            <a:ext cx="2194560" cy="100584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44805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84FF"/>
                </a:solidFill>
                <a:latin typeface="SF Pro Display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4983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E6E73"/>
                </a:solidFill>
                <a:latin typeface="SF Pro Text"/>
              </a:rPr>
              <a:t>Dependencies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4434840"/>
            <a:ext cx="2194560" cy="100584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44805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84FF"/>
                </a:solidFill>
                <a:latin typeface="SF Pro Display"/>
              </a:rPr>
              <a:t>DE/EN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983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E6E73"/>
                </a:solidFill>
                <a:latin typeface="SF Pro Text"/>
              </a:rPr>
              <a:t>Lokalisiert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5760720"/>
            <a:ext cx="5760720" cy="5943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583387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0D158"/>
                </a:solidFill>
                <a:latin typeface="SF Pro Text"/>
              </a:rPr>
              <a:t>$ swift run xcode-toolbox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6094476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4476" y="6803136"/>
            <a:ext cx="6094476" cy="54864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